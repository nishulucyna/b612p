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microsoft.com/office/2020/02/relationships/classificationlabels" Target="docMetadata/LabelInfo.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656" y="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notesMaster" Target="notesMasters/notesMaster1.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ableStyles" Target="tableStyles.xml" /><Relationship Id="rId5" Type="http://schemas.openxmlformats.org/officeDocument/2006/relationships/slide" Target="slides/slide4.xml" /><Relationship Id="rId10"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Welcome to Megathon X at IIIT Hyderabad. Let me introduce Qualcomm’s problem statement: AI Incident Report Assistant. The goal is to make incident reporting as simple as speaking naturally to a device.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of you enjoy filling out forms? Probably not many. Imagine there is a water leak near a conference room. Instead of opening a form, the user simply describes the incident. The system should understand that sentence and do the hard work.
[Sources]
- Visual on this slide was generated with Microsoft Copilot.
[/Sources]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complete problem statement. The system listens to the user, converts speech to text, extracts the incident information, checks mandatory fields, calls the required function, and lets the user review before submission. The main requirement is that the AI models execute on-device using Snapdragon acceleration.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key resources. Use the QIDK documentation and GitHub repository for the development framework, Qualcomm AI Hub for compatible models, and the QAIRT setup guide for the SDK environment.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voice in, structured incident report out. Make the experience natural, accurate, and completely on-device. We look forward to seeing how creatively you solve the challenge. All the best.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1.xml" /><Relationship Id="rId4" Type="http://schemas.openxmlformats.org/officeDocument/2006/relationships/image" Target="../media/image2.png" /></Relationships>
</file>

<file path=ppt/slides/_rels/slide2.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2.xml" /><Relationship Id="rId1" Type="http://schemas.openxmlformats.org/officeDocument/2006/relationships/slideLayout" Target="../slideLayouts/slideLayout1.xml" /><Relationship Id="rId4" Type="http://schemas.openxmlformats.org/officeDocument/2006/relationships/image" Target="../media/image3.png" /></Relationships>
</file>

<file path=ppt/slides/_rels/slide3.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3.xml" /><Relationship Id="rId1" Type="http://schemas.openxmlformats.org/officeDocument/2006/relationships/slideLayout" Target="../slideLayouts/slideLayout1.xml" /><Relationship Id="rId4" Type="http://schemas.openxmlformats.org/officeDocument/2006/relationships/image" Target="../media/image4.png" /></Relationships>
</file>

<file path=ppt/slides/_rels/slide4.xml.rels><?xml version="1.0" encoding="UTF-8" standalone="yes"?>
<Relationships xmlns="http://schemas.openxmlformats.org/package/2006/relationships"><Relationship Id="rId3" Type="http://schemas.openxmlformats.org/officeDocument/2006/relationships/image" Target="../media/image1.png" /><Relationship Id="rId7" Type="http://schemas.openxmlformats.org/officeDocument/2006/relationships/hyperlink" Target="https://docs.qualcomm.com/bundle/publicresource/topics/80%2063442-2/setup.html" TargetMode="External"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hyperlink" Target="https://aihub.qualcomm.com/mobile/models" TargetMode="External" /><Relationship Id="rId5" Type="http://schemas.openxmlformats.org/officeDocument/2006/relationships/hyperlink" Target="https://github.com/quic/qidk" TargetMode="External" /><Relationship Id="rId4" Type="http://schemas.openxmlformats.org/officeDocument/2006/relationships/hyperlink" Target="https://qualcomm.github.io/qidk/release-notes/overview.html" TargetMode="External" /></Relationships>
</file>

<file path=ppt/slides/_rels/slide5.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5.xml"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38"/>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58368" y="1207008"/>
            <a:ext cx="3383280" cy="274320"/>
          </a:xfrm>
          <a:prstGeom prst="rect">
            <a:avLst/>
          </a:prstGeom>
          <a:noFill/>
          <a:ln/>
        </p:spPr>
        <p:txBody>
          <a:bodyPr wrap="square" lIns="0" tIns="0" rIns="0" bIns="0" rtlCol="0" anchor="ctr"/>
          <a:lstStyle/>
          <a:p>
            <a:pPr marL="0" indent="0">
              <a:buNone/>
            </a:pPr>
            <a:r>
              <a:rPr lang="en-US" sz="1400" b="1" kern="0" spc="150" dirty="0">
                <a:solidFill>
                  <a:srgbClr val="B8C6FF"/>
                </a:solidFill>
              </a:rPr>
              <a:t>meet  ·  ideate  ·  hack</a:t>
            </a:r>
            <a:endParaRPr lang="en-US" sz="1400" dirty="0"/>
          </a:p>
        </p:txBody>
      </p:sp>
      <p:sp>
        <p:nvSpPr>
          <p:cNvPr id="4" name="Text 2"/>
          <p:cNvSpPr/>
          <p:nvPr/>
        </p:nvSpPr>
        <p:spPr>
          <a:xfrm>
            <a:off x="658368" y="740664"/>
            <a:ext cx="4297680" cy="566928"/>
          </a:xfrm>
          <a:prstGeom prst="rect">
            <a:avLst/>
          </a:prstGeom>
          <a:noFill/>
          <a:ln/>
        </p:spPr>
        <p:txBody>
          <a:bodyPr wrap="square" lIns="0" tIns="0" rIns="0" bIns="0" rtlCol="0" anchor="ctr"/>
          <a:lstStyle/>
          <a:p>
            <a:pPr marL="0" indent="0">
              <a:buNone/>
            </a:pPr>
            <a:r>
              <a:rPr lang="en-US" sz="3300" b="1" kern="0" spc="120" dirty="0">
                <a:solidFill>
                  <a:srgbClr val="FFFFFF"/>
                </a:solidFill>
              </a:rPr>
              <a:t>MEGATHON  X</a:t>
            </a:r>
            <a:endParaRPr lang="en-US" sz="3300" dirty="0"/>
          </a:p>
        </p:txBody>
      </p:sp>
      <p:sp>
        <p:nvSpPr>
          <p:cNvPr id="5" name="Text 3"/>
          <p:cNvSpPr/>
          <p:nvPr/>
        </p:nvSpPr>
        <p:spPr>
          <a:xfrm>
            <a:off x="658368" y="1755648"/>
            <a:ext cx="2468880" cy="310896"/>
          </a:xfrm>
          <a:prstGeom prst="rect">
            <a:avLst/>
          </a:prstGeom>
          <a:solidFill>
            <a:srgbClr val="3458E8"/>
          </a:solidFill>
          <a:ln>
            <a:solidFill>
              <a:srgbClr val="3458E8"/>
            </a:solidFill>
          </a:ln>
        </p:spPr>
        <p:txBody>
          <a:bodyPr wrap="square" lIns="381" tIns="381" rIns="381" bIns="381" rtlCol="0" anchor="ctr"/>
          <a:lstStyle/>
          <a:p>
            <a:pPr marL="0" indent="0" algn="ctr">
              <a:buNone/>
            </a:pPr>
            <a:r>
              <a:rPr lang="en-US" sz="1100" b="1" dirty="0">
                <a:solidFill>
                  <a:srgbClr val="FFFFFF"/>
                </a:solidFill>
              </a:rPr>
              <a:t>QUALCOMM PROBLEM STATEMENT</a:t>
            </a:r>
            <a:endParaRPr lang="en-US" sz="1100" dirty="0"/>
          </a:p>
        </p:txBody>
      </p:sp>
      <p:sp>
        <p:nvSpPr>
          <p:cNvPr id="6" name="Text 4"/>
          <p:cNvSpPr/>
          <p:nvPr/>
        </p:nvSpPr>
        <p:spPr>
          <a:xfrm>
            <a:off x="658368" y="2240280"/>
            <a:ext cx="5394960" cy="1143000"/>
          </a:xfrm>
          <a:prstGeom prst="rect">
            <a:avLst/>
          </a:prstGeom>
          <a:noFill/>
          <a:ln/>
        </p:spPr>
        <p:txBody>
          <a:bodyPr wrap="square" lIns="0" tIns="0" rIns="0" bIns="0" rtlCol="0" anchor="ctr">
            <a:normAutofit lnSpcReduction="10000"/>
          </a:bodyPr>
          <a:lstStyle/>
          <a:p>
            <a:pPr marL="0" indent="0">
              <a:buNone/>
            </a:pPr>
            <a:r>
              <a:rPr lang="en-US" sz="4000" b="1" dirty="0">
                <a:solidFill>
                  <a:srgbClr val="FFFFFF"/>
                </a:solidFill>
              </a:rPr>
              <a:t>AI Incident</a:t>
            </a:r>
            <a:endParaRPr lang="en-US" sz="4000" dirty="0"/>
          </a:p>
          <a:p>
            <a:pPr marL="0" indent="0">
              <a:buNone/>
            </a:pPr>
            <a:r>
              <a:rPr lang="en-US" sz="4000" b="1" dirty="0">
                <a:solidFill>
                  <a:srgbClr val="FFFFFF"/>
                </a:solidFill>
              </a:rPr>
              <a:t>Report Assistant</a:t>
            </a:r>
            <a:endParaRPr lang="en-US" sz="4000" dirty="0"/>
          </a:p>
        </p:txBody>
      </p:sp>
      <p:sp>
        <p:nvSpPr>
          <p:cNvPr id="7" name="Text 5"/>
          <p:cNvSpPr/>
          <p:nvPr/>
        </p:nvSpPr>
        <p:spPr>
          <a:xfrm>
            <a:off x="658368" y="3593592"/>
            <a:ext cx="5394960" cy="685800"/>
          </a:xfrm>
          <a:prstGeom prst="rect">
            <a:avLst/>
          </a:prstGeom>
          <a:noFill/>
          <a:ln/>
        </p:spPr>
        <p:txBody>
          <a:bodyPr wrap="square" lIns="0" tIns="0" rIns="0" bIns="0" rtlCol="0" anchor="ctr">
            <a:normAutofit/>
          </a:bodyPr>
          <a:lstStyle/>
          <a:p>
            <a:pPr marL="0" indent="0">
              <a:buNone/>
            </a:pPr>
            <a:r>
              <a:rPr lang="en-US" sz="1800" dirty="0">
                <a:solidFill>
                  <a:srgbClr val="D8DDF1"/>
                </a:solidFill>
              </a:rPr>
              <a:t>End-to-end voice-driven incident reporting using</a:t>
            </a:r>
            <a:endParaRPr lang="en-US" sz="1800" dirty="0"/>
          </a:p>
          <a:p>
            <a:pPr marL="0" indent="0">
              <a:buNone/>
            </a:pPr>
            <a:r>
              <a:rPr lang="en-US" sz="1800" dirty="0">
                <a:solidFill>
                  <a:srgbClr val="D8DDF1"/>
                </a:solidFill>
              </a:rPr>
              <a:t>on-device Generative AI and function calling.</a:t>
            </a:r>
            <a:endParaRPr lang="en-US" sz="1800" dirty="0"/>
          </a:p>
        </p:txBody>
      </p:sp>
      <p:sp>
        <p:nvSpPr>
          <p:cNvPr id="8" name="Shape 6"/>
          <p:cNvSpPr/>
          <p:nvPr/>
        </p:nvSpPr>
        <p:spPr>
          <a:xfrm>
            <a:off x="6629400" y="713232"/>
            <a:ext cx="4846320" cy="3886200"/>
          </a:xfrm>
          <a:prstGeom prst="roundRect">
            <a:avLst/>
          </a:prstGeom>
          <a:solidFill>
            <a:srgbClr val="FFFFFF"/>
          </a:solidFill>
          <a:ln w="1524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9" name="Image 0" descr="/mnt/data/better_work/unzip/ppt/media/image18.png"/>
          <p:cNvPicPr>
            <a:picLocks noChangeAspect="1"/>
          </p:cNvPicPr>
          <p:nvPr/>
        </p:nvPicPr>
        <p:blipFill>
          <a:blip r:embed="rId3"/>
          <a:stretch>
            <a:fillRect/>
          </a:stretch>
        </p:blipFill>
        <p:spPr>
          <a:xfrm>
            <a:off x="7345105" y="1216152"/>
            <a:ext cx="3405765" cy="1298448"/>
          </a:xfrm>
          <a:prstGeom prst="rect">
            <a:avLst/>
          </a:prstGeom>
        </p:spPr>
      </p:pic>
      <p:sp>
        <p:nvSpPr>
          <p:cNvPr id="10" name="Text 7"/>
          <p:cNvSpPr/>
          <p:nvPr/>
        </p:nvSpPr>
        <p:spPr>
          <a:xfrm>
            <a:off x="7242048" y="2816352"/>
            <a:ext cx="3611880" cy="274320"/>
          </a:xfrm>
          <a:prstGeom prst="rect">
            <a:avLst/>
          </a:prstGeom>
          <a:noFill/>
          <a:ln/>
        </p:spPr>
        <p:txBody>
          <a:bodyPr wrap="square" lIns="0" tIns="0" rIns="0" bIns="0" rtlCol="0" anchor="ctr"/>
          <a:lstStyle/>
          <a:p>
            <a:pPr marL="0" indent="0" algn="ctr">
              <a:buNone/>
            </a:pPr>
            <a:r>
              <a:rPr lang="en-US" sz="1300" b="1" kern="0" spc="120" dirty="0">
                <a:solidFill>
                  <a:srgbClr val="3458E8"/>
                </a:solidFill>
              </a:rPr>
              <a:t>ON-DEVICE AI CHALLENGE</a:t>
            </a:r>
            <a:endParaRPr lang="en-US" sz="1300" dirty="0"/>
          </a:p>
        </p:txBody>
      </p:sp>
      <p:sp>
        <p:nvSpPr>
          <p:cNvPr id="11" name="Text 8"/>
          <p:cNvSpPr/>
          <p:nvPr/>
        </p:nvSpPr>
        <p:spPr>
          <a:xfrm>
            <a:off x="7086600" y="3310128"/>
            <a:ext cx="3931920" cy="384048"/>
          </a:xfrm>
          <a:prstGeom prst="rect">
            <a:avLst/>
          </a:prstGeom>
          <a:noFill/>
          <a:ln/>
        </p:spPr>
        <p:txBody>
          <a:bodyPr wrap="square" lIns="0" tIns="0" rIns="0" bIns="0" rtlCol="0" anchor="ctr"/>
          <a:lstStyle/>
          <a:p>
            <a:pPr marL="0" indent="0" algn="ctr">
              <a:buNone/>
            </a:pPr>
            <a:r>
              <a:rPr lang="en-US" sz="2200" b="1" dirty="0">
                <a:solidFill>
                  <a:srgbClr val="17122B"/>
                </a:solidFill>
              </a:rPr>
              <a:t>Voice in. Structured report out.</a:t>
            </a:r>
            <a:endParaRPr lang="en-US" sz="2200" dirty="0"/>
          </a:p>
        </p:txBody>
      </p:sp>
      <p:sp>
        <p:nvSpPr>
          <p:cNvPr id="12" name="Shape 9"/>
          <p:cNvSpPr/>
          <p:nvPr/>
        </p:nvSpPr>
        <p:spPr>
          <a:xfrm>
            <a:off x="658368" y="4892040"/>
            <a:ext cx="10817352" cy="1234440"/>
          </a:xfrm>
          <a:prstGeom prst="roundRect">
            <a:avLst/>
          </a:prstGeom>
          <a:solidFill>
            <a:srgbClr val="121E49"/>
          </a:solidFill>
          <a:ln w="12700">
            <a:solidFill>
              <a:srgbClr val="334A91"/>
            </a:solidFill>
            <a:prstDash val="solid"/>
          </a:ln>
        </p:spPr>
        <p:txBody>
          <a:bodyPr/>
          <a:lstStyle/>
          <a:p>
            <a:endParaRPr lang="en-US"/>
          </a:p>
        </p:txBody>
      </p:sp>
      <p:sp>
        <p:nvSpPr>
          <p:cNvPr id="13" name="Text 10"/>
          <p:cNvSpPr/>
          <p:nvPr/>
        </p:nvSpPr>
        <p:spPr>
          <a:xfrm>
            <a:off x="1146048" y="5358384"/>
            <a:ext cx="1828800" cy="219456"/>
          </a:xfrm>
          <a:prstGeom prst="rect">
            <a:avLst/>
          </a:prstGeom>
          <a:noFill/>
          <a:ln/>
        </p:spPr>
        <p:txBody>
          <a:bodyPr wrap="square" lIns="0" tIns="0" rIns="0" bIns="0" rtlCol="0" anchor="ctr"/>
          <a:lstStyle/>
          <a:p>
            <a:pPr marL="0" indent="0">
              <a:buNone/>
            </a:pPr>
            <a:r>
              <a:rPr lang="en-US" sz="1000" b="1" dirty="0">
                <a:solidFill>
                  <a:srgbClr val="9AA9D8"/>
                </a:solidFill>
              </a:rPr>
              <a:t>IN COLLABORATION WITH</a:t>
            </a:r>
            <a:endParaRPr lang="en-US" sz="1000" dirty="0"/>
          </a:p>
        </p:txBody>
      </p:sp>
      <p:pic>
        <p:nvPicPr>
          <p:cNvPr id="14" name="Image 1" descr="/mnt/data/better_work/unzip/ppt/media/image19.png"/>
          <p:cNvPicPr>
            <a:picLocks noChangeAspect="1"/>
          </p:cNvPicPr>
          <p:nvPr/>
        </p:nvPicPr>
        <p:blipFill>
          <a:blip r:embed="rId4"/>
          <a:stretch>
            <a:fillRect/>
          </a:stretch>
        </p:blipFill>
        <p:spPr>
          <a:xfrm>
            <a:off x="3086100" y="5056632"/>
            <a:ext cx="1737360" cy="868680"/>
          </a:xfrm>
          <a:prstGeom prst="rect">
            <a:avLst/>
          </a:prstGeom>
        </p:spPr>
      </p:pic>
      <p:sp>
        <p:nvSpPr>
          <p:cNvPr id="15" name="Text 11"/>
          <p:cNvSpPr/>
          <p:nvPr/>
        </p:nvSpPr>
        <p:spPr>
          <a:xfrm>
            <a:off x="5922264" y="5285232"/>
            <a:ext cx="2606040" cy="292608"/>
          </a:xfrm>
          <a:prstGeom prst="rect">
            <a:avLst/>
          </a:prstGeom>
          <a:noFill/>
          <a:ln/>
        </p:spPr>
        <p:txBody>
          <a:bodyPr wrap="square" lIns="0" tIns="0" rIns="0" bIns="0" rtlCol="0" anchor="ctr"/>
          <a:lstStyle/>
          <a:p>
            <a:pPr marL="0" indent="0">
              <a:buNone/>
            </a:pPr>
            <a:r>
              <a:rPr lang="en-US" sz="1700" b="1" dirty="0">
                <a:solidFill>
                  <a:srgbClr val="FFFFFF"/>
                </a:solidFill>
              </a:rPr>
              <a:t>E-Cell, IIIT Hyderabad</a:t>
            </a:r>
            <a:endParaRPr lang="en-US" sz="1700" dirty="0"/>
          </a:p>
        </p:txBody>
      </p:sp>
      <p:sp>
        <p:nvSpPr>
          <p:cNvPr id="16" name="Text 12"/>
          <p:cNvSpPr/>
          <p:nvPr/>
        </p:nvSpPr>
        <p:spPr>
          <a:xfrm>
            <a:off x="8644128" y="5312664"/>
            <a:ext cx="1965960" cy="310896"/>
          </a:xfrm>
          <a:prstGeom prst="rect">
            <a:avLst/>
          </a:prstGeom>
          <a:noFill/>
          <a:ln/>
        </p:spPr>
        <p:txBody>
          <a:bodyPr wrap="square" lIns="0" tIns="0" rIns="0" bIns="0" rtlCol="0" anchor="ctr"/>
          <a:lstStyle/>
          <a:p>
            <a:pPr marL="0" indent="0" algn="r">
              <a:buNone/>
            </a:pPr>
            <a:r>
              <a:rPr lang="en-US" sz="1800" b="1" dirty="0">
                <a:solidFill>
                  <a:srgbClr val="A78BFA"/>
                </a:solidFill>
              </a:rPr>
              <a:t>MEGATHON X</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How many of you enjoy filling out forms?</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Let us replace manual entry with a natural conversation.</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Text 3"/>
          <p:cNvSpPr/>
          <p:nvPr/>
        </p:nvSpPr>
        <p:spPr>
          <a:xfrm>
            <a:off x="658368" y="1417320"/>
            <a:ext cx="4023360" cy="502920"/>
          </a:xfrm>
          <a:prstGeom prst="rect">
            <a:avLst/>
          </a:prstGeom>
          <a:noFill/>
          <a:ln/>
        </p:spPr>
        <p:txBody>
          <a:bodyPr wrap="square" lIns="0" tIns="0" rIns="0" bIns="0" rtlCol="0" anchor="ctr"/>
          <a:lstStyle/>
          <a:p>
            <a:pPr marL="0" indent="0">
              <a:buNone/>
            </a:pPr>
            <a:r>
              <a:rPr lang="en-US" sz="2900" b="1" dirty="0">
                <a:solidFill>
                  <a:srgbClr val="6930C3"/>
                </a:solidFill>
              </a:rPr>
              <a:t>Probably not many.</a:t>
            </a:r>
            <a:endParaRPr lang="en-US" sz="2900" dirty="0"/>
          </a:p>
        </p:txBody>
      </p:sp>
      <p:sp>
        <p:nvSpPr>
          <p:cNvPr id="7" name="Text 4"/>
          <p:cNvSpPr/>
          <p:nvPr/>
        </p:nvSpPr>
        <p:spPr>
          <a:xfrm>
            <a:off x="658368" y="2103120"/>
            <a:ext cx="4617720" cy="1051560"/>
          </a:xfrm>
          <a:prstGeom prst="rect">
            <a:avLst/>
          </a:prstGeom>
          <a:noFill/>
          <a:ln/>
        </p:spPr>
        <p:txBody>
          <a:bodyPr wrap="square" lIns="254" tIns="254" rIns="254" bIns="254" rtlCol="0" anchor="ctr">
            <a:normAutofit/>
          </a:bodyPr>
          <a:lstStyle/>
          <a:p>
            <a:pPr marL="0" indent="0">
              <a:buNone/>
            </a:pPr>
            <a:r>
              <a:rPr lang="en-US" sz="2000" dirty="0">
                <a:solidFill>
                  <a:srgbClr val="17122B"/>
                </a:solidFill>
              </a:rPr>
              <a:t>Imagine an incident happens. Instead of opening a portal and typing every detail, you simply talk to the device.</a:t>
            </a:r>
            <a:endParaRPr lang="en-US" sz="2000" dirty="0"/>
          </a:p>
        </p:txBody>
      </p:sp>
      <p:sp>
        <p:nvSpPr>
          <p:cNvPr id="8" name="Shape 5"/>
          <p:cNvSpPr/>
          <p:nvPr/>
        </p:nvSpPr>
        <p:spPr>
          <a:xfrm>
            <a:off x="658368" y="3657600"/>
            <a:ext cx="4709160" cy="1234440"/>
          </a:xfrm>
          <a:prstGeom prst="roundRect">
            <a:avLst/>
          </a:prstGeom>
          <a:solidFill>
            <a:srgbClr val="FFFFFF"/>
          </a:solidFill>
          <a:ln w="15240">
            <a:solidFill>
              <a:srgbClr val="D5D9E8"/>
            </a:solidFill>
            <a:prstDash val="solid"/>
          </a:ln>
          <a:effectLst>
            <a:outerShdw blurRad="19050" dist="7620" dir="2700000" algn="bl" rotWithShape="0">
              <a:srgbClr val="000000">
                <a:alpha val="12000"/>
              </a:srgbClr>
            </a:outerShdw>
          </a:effectLst>
        </p:spPr>
        <p:txBody>
          <a:bodyPr/>
          <a:lstStyle/>
          <a:p>
            <a:endParaRPr lang="en-US"/>
          </a:p>
        </p:txBody>
      </p:sp>
      <p:sp>
        <p:nvSpPr>
          <p:cNvPr id="9" name="Text 6"/>
          <p:cNvSpPr/>
          <p:nvPr/>
        </p:nvSpPr>
        <p:spPr>
          <a:xfrm>
            <a:off x="914400" y="3886200"/>
            <a:ext cx="4206240" cy="749808"/>
          </a:xfrm>
          <a:prstGeom prst="rect">
            <a:avLst/>
          </a:prstGeom>
          <a:noFill/>
          <a:ln/>
        </p:spPr>
        <p:txBody>
          <a:bodyPr wrap="square" lIns="0" tIns="0" rIns="0" bIns="0" rtlCol="0" anchor="ctr">
            <a:normAutofit lnSpcReduction="10000"/>
          </a:bodyPr>
          <a:lstStyle/>
          <a:p>
            <a:pPr marL="0" indent="0">
              <a:buNone/>
            </a:pPr>
            <a:r>
              <a:rPr lang="en-US" sz="1700" i="1" dirty="0">
                <a:solidFill>
                  <a:srgbClr val="17122B"/>
                </a:solidFill>
              </a:rPr>
              <a:t>“There was a water leak near Conference Room 2 around 10 AM. Maintenance has already isolated the area.”</a:t>
            </a:r>
            <a:endParaRPr lang="en-US" sz="1700" dirty="0"/>
          </a:p>
        </p:txBody>
      </p:sp>
      <p:pic>
        <p:nvPicPr>
          <p:cNvPr id="10" name="Image 1" descr="/mnt/data/better_work/unzip/ppt/media/image20.png"/>
          <p:cNvPicPr>
            <a:picLocks noChangeAspect="1"/>
          </p:cNvPicPr>
          <p:nvPr/>
        </p:nvPicPr>
        <p:blipFill>
          <a:blip r:embed="rId4"/>
          <a:srcRect l="15590" r="15590"/>
          <a:stretch/>
        </p:blipFill>
        <p:spPr>
          <a:xfrm>
            <a:off x="5715000" y="1298448"/>
            <a:ext cx="5852160" cy="4526280"/>
          </a:xfrm>
          <a:prstGeom prst="rect">
            <a:avLst/>
          </a:prstGeom>
        </p:spPr>
      </p:pic>
      <p:sp>
        <p:nvSpPr>
          <p:cNvPr id="11" name="Text 7"/>
          <p:cNvSpPr/>
          <p:nvPr/>
        </p:nvSpPr>
        <p:spPr>
          <a:xfrm>
            <a:off x="7470648" y="5212080"/>
            <a:ext cx="2423160" cy="310896"/>
          </a:xfrm>
          <a:prstGeom prst="rect">
            <a:avLst/>
          </a:prstGeom>
          <a:solidFill>
            <a:srgbClr val="6930C3"/>
          </a:solidFill>
          <a:ln>
            <a:solidFill>
              <a:srgbClr val="6930C3"/>
            </a:solidFill>
          </a:ln>
        </p:spPr>
        <p:txBody>
          <a:bodyPr wrap="square" lIns="381" tIns="381" rIns="381" bIns="381" rtlCol="0" anchor="ctr"/>
          <a:lstStyle/>
          <a:p>
            <a:pPr marL="0" indent="0" algn="ctr">
              <a:buNone/>
            </a:pPr>
            <a:r>
              <a:rPr lang="en-US" sz="1100" b="1" dirty="0">
                <a:solidFill>
                  <a:srgbClr val="FFFFFF"/>
                </a:solidFill>
              </a:rPr>
              <a:t>JUST SPEAK NATURALLY</a:t>
            </a:r>
            <a:endParaRPr lang="en-US" sz="1100" dirty="0"/>
          </a:p>
        </p:txBody>
      </p:sp>
      <p:sp>
        <p:nvSpPr>
          <p:cNvPr id="12" name="Text 8"/>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13" name="Text 9"/>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640080" y="347472"/>
            <a:ext cx="8961120" cy="438912"/>
          </a:xfrm>
          <a:prstGeom prst="rect">
            <a:avLst/>
          </a:prstGeom>
          <a:noFill/>
          <a:ln/>
        </p:spPr>
        <p:txBody>
          <a:bodyPr wrap="square" lIns="0" tIns="0" rIns="0" bIns="0" rtlCol="0" anchor="ctr"/>
          <a:lstStyle/>
          <a:p>
            <a:pPr marL="0" indent="0">
              <a:buNone/>
            </a:pPr>
            <a:r>
              <a:rPr lang="en-US" sz="2700" b="1" dirty="0">
                <a:solidFill>
                  <a:srgbClr val="17122B"/>
                </a:solidFill>
              </a:rPr>
              <a:t>Problem Statement</a:t>
            </a: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AI Incident Report Assistant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009832" y="256032"/>
            <a:ext cx="1487024" cy="566928"/>
          </a:xfrm>
          <a:prstGeom prst="rect">
            <a:avLst/>
          </a:prstGeom>
        </p:spPr>
      </p:pic>
      <p:sp>
        <p:nvSpPr>
          <p:cNvPr id="6" name="Shape 3"/>
          <p:cNvSpPr/>
          <p:nvPr/>
        </p:nvSpPr>
        <p:spPr>
          <a:xfrm>
            <a:off x="594360" y="1280160"/>
            <a:ext cx="11000232" cy="4846320"/>
          </a:xfrm>
          <a:prstGeom prst="roundRect">
            <a:avLst/>
          </a:prstGeom>
          <a:solidFill>
            <a:srgbClr val="FFFFFF"/>
          </a:solidFill>
          <a:ln w="13970">
            <a:solidFill>
              <a:srgbClr val="D9DFF0"/>
            </a:solidFill>
            <a:prstDash val="solid"/>
          </a:ln>
          <a:effectLst>
            <a:outerShdw blurRad="19050" dist="8890" dir="2700000" algn="bl" rotWithShape="0">
              <a:srgbClr val="000000">
                <a:alpha val="12000"/>
              </a:srgbClr>
            </a:outerShdw>
          </a:effectLst>
        </p:spPr>
        <p:txBody>
          <a:bodyPr/>
          <a:lstStyle/>
          <a:p>
            <a:endParaRPr lang="en-US"/>
          </a:p>
        </p:txBody>
      </p:sp>
      <p:pic>
        <p:nvPicPr>
          <p:cNvPr id="7" name="Image 1" descr="/mnt/data/better_work/unzip/ppt/media/image21.png"/>
          <p:cNvPicPr>
            <a:picLocks noChangeAspect="1"/>
          </p:cNvPicPr>
          <p:nvPr/>
        </p:nvPicPr>
        <p:blipFill>
          <a:blip r:embed="rId4"/>
          <a:stretch>
            <a:fillRect/>
          </a:stretch>
        </p:blipFill>
        <p:spPr>
          <a:xfrm>
            <a:off x="1982159" y="1481328"/>
            <a:ext cx="8224635" cy="4407408"/>
          </a:xfrm>
          <a:prstGeom prst="rect">
            <a:avLst/>
          </a:prstGeom>
        </p:spPr>
      </p:pic>
      <p:sp>
        <p:nvSpPr>
          <p:cNvPr id="8" name="Text 4"/>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9" name="Text 5"/>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C"/>
        </a:solidFill>
        <a:effectLst/>
      </p:bgPr>
    </p:bg>
    <p:spTree>
      <p:nvGrpSpPr>
        <p:cNvPr id="1" name=""/>
        <p:cNvGrpSpPr/>
        <p:nvPr/>
      </p:nvGrpSpPr>
      <p:grpSpPr>
        <a:xfrm>
          <a:off x="0" y="0"/>
          <a:ext cx="1" cy="1"/>
          <a:chOff x="0" y="0"/>
          <a:chExt cx="1" cy="1"/>
        </a:xfrm>
      </p:grpSpPr>
      <p:sp>
        <p:nvSpPr>
          <p:cNvPr id="2" name="Shape 0"/>
          <p:cNvSpPr/>
          <p:nvPr/>
        </p:nvSpPr>
        <p:spPr>
          <a:xfrm>
            <a:off x="0" y="0"/>
            <a:ext cx="12191695" cy="73152"/>
          </a:xfrm>
          <a:prstGeom prst="rect">
            <a:avLst/>
          </a:prstGeom>
          <a:solidFill>
            <a:srgbClr val="3458E8"/>
          </a:solidFill>
          <a:ln w="12700">
            <a:solidFill>
              <a:srgbClr val="3458E8"/>
            </a:solidFill>
            <a:prstDash val="solid"/>
          </a:ln>
        </p:spPr>
        <p:txBody>
          <a:bodyPr/>
          <a:lstStyle/>
          <a:p>
            <a:endParaRPr lang="en-US"/>
          </a:p>
        </p:txBody>
      </p:sp>
      <p:sp>
        <p:nvSpPr>
          <p:cNvPr id="3" name="Text 1"/>
          <p:cNvSpPr/>
          <p:nvPr/>
        </p:nvSpPr>
        <p:spPr>
          <a:xfrm>
            <a:off x="548640" y="493776"/>
            <a:ext cx="9637776" cy="438912"/>
          </a:xfrm>
          <a:prstGeom prst="rect">
            <a:avLst/>
          </a:prstGeom>
          <a:noFill/>
          <a:ln/>
        </p:spPr>
        <p:txBody>
          <a:bodyPr wrap="square" lIns="0" tIns="0" rIns="0" bIns="0" rtlCol="0" anchor="ctr"/>
          <a:lstStyle/>
          <a:p>
            <a:r>
              <a:rPr lang="en-US" sz="2700" b="1" dirty="0">
                <a:solidFill>
                  <a:srgbClr val="17122B"/>
                </a:solidFill>
              </a:rPr>
              <a:t>Build with the Qualcomm® Innovators Development Kit (QIDK)</a:t>
            </a:r>
          </a:p>
          <a:p>
            <a:pPr marL="0" indent="0">
              <a:buNone/>
            </a:pPr>
            <a:endParaRPr lang="en-US" sz="2700" dirty="0"/>
          </a:p>
        </p:txBody>
      </p:sp>
      <p:sp>
        <p:nvSpPr>
          <p:cNvPr id="4" name="Text 2"/>
          <p:cNvSpPr/>
          <p:nvPr/>
        </p:nvSpPr>
        <p:spPr>
          <a:xfrm>
            <a:off x="658368" y="877824"/>
            <a:ext cx="8778240" cy="274320"/>
          </a:xfrm>
          <a:prstGeom prst="rect">
            <a:avLst/>
          </a:prstGeom>
          <a:noFill/>
          <a:ln/>
        </p:spPr>
        <p:txBody>
          <a:bodyPr wrap="square" lIns="0" tIns="0" rIns="0" bIns="0" rtlCol="0" anchor="ctr"/>
          <a:lstStyle/>
          <a:p>
            <a:pPr marL="0" indent="0">
              <a:buNone/>
            </a:pPr>
            <a:r>
              <a:rPr lang="en-US" sz="1300" dirty="0">
                <a:solidFill>
                  <a:srgbClr val="667085"/>
                </a:solidFill>
              </a:rPr>
              <a:t>Start with these resources for models, SDK setup, and QIDK development.</a:t>
            </a:r>
            <a:endParaRPr lang="en-US" sz="1300" dirty="0"/>
          </a:p>
        </p:txBody>
      </p:sp>
      <p:pic>
        <p:nvPicPr>
          <p:cNvPr id="5" name="Image 0" descr="/mnt/data/better_work/unzip/ppt/media/image18.png"/>
          <p:cNvPicPr>
            <a:picLocks noChangeAspect="1"/>
          </p:cNvPicPr>
          <p:nvPr/>
        </p:nvPicPr>
        <p:blipFill>
          <a:blip r:embed="rId3"/>
          <a:stretch>
            <a:fillRect/>
          </a:stretch>
        </p:blipFill>
        <p:spPr>
          <a:xfrm>
            <a:off x="10412168" y="228600"/>
            <a:ext cx="1487024" cy="566928"/>
          </a:xfrm>
          <a:prstGeom prst="rect">
            <a:avLst/>
          </a:prstGeom>
        </p:spPr>
      </p:pic>
      <p:sp>
        <p:nvSpPr>
          <p:cNvPr id="6" name="Shape 3"/>
          <p:cNvSpPr/>
          <p:nvPr/>
        </p:nvSpPr>
        <p:spPr>
          <a:xfrm>
            <a:off x="6583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7" name="Shape 4"/>
          <p:cNvSpPr/>
          <p:nvPr/>
        </p:nvSpPr>
        <p:spPr>
          <a:xfrm>
            <a:off x="914400" y="1655064"/>
            <a:ext cx="603504" cy="603504"/>
          </a:xfrm>
          <a:prstGeom prst="ellipse">
            <a:avLst/>
          </a:prstGeom>
          <a:solidFill>
            <a:srgbClr val="3458E8"/>
          </a:solidFill>
          <a:ln w="12700">
            <a:solidFill>
              <a:srgbClr val="3458E8"/>
            </a:solidFill>
            <a:prstDash val="solid"/>
          </a:ln>
        </p:spPr>
        <p:txBody>
          <a:bodyPr/>
          <a:lstStyle/>
          <a:p>
            <a:endParaRPr lang="en-US"/>
          </a:p>
        </p:txBody>
      </p:sp>
      <p:sp>
        <p:nvSpPr>
          <p:cNvPr id="8" name="Text 5"/>
          <p:cNvSpPr/>
          <p:nvPr/>
        </p:nvSpPr>
        <p:spPr>
          <a:xfrm>
            <a:off x="9144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01</a:t>
            </a:r>
            <a:endParaRPr lang="en-US" sz="1300" dirty="0"/>
          </a:p>
        </p:txBody>
      </p:sp>
      <p:sp>
        <p:nvSpPr>
          <p:cNvPr id="9" name="Text 6"/>
          <p:cNvSpPr/>
          <p:nvPr/>
        </p:nvSpPr>
        <p:spPr>
          <a:xfrm>
            <a:off x="17099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Documentation</a:t>
            </a:r>
            <a:endParaRPr lang="en-US" sz="1900" dirty="0"/>
          </a:p>
        </p:txBody>
      </p:sp>
      <p:sp>
        <p:nvSpPr>
          <p:cNvPr id="10" name="Text 7"/>
          <p:cNvSpPr/>
          <p:nvPr/>
        </p:nvSpPr>
        <p:spPr>
          <a:xfrm>
            <a:off x="17099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Release notes and platform overview</a:t>
            </a:r>
            <a:endParaRPr lang="en-US" sz="1300" dirty="0"/>
          </a:p>
        </p:txBody>
      </p:sp>
      <p:sp>
        <p:nvSpPr>
          <p:cNvPr id="11" name="Text 8">
            <a:hlinkClick r:id="rId4"/>
          </p:cNvPr>
          <p:cNvSpPr/>
          <p:nvPr/>
        </p:nvSpPr>
        <p:spPr>
          <a:xfrm>
            <a:off x="1709928" y="2651760"/>
            <a:ext cx="2011680" cy="228600"/>
          </a:xfrm>
          <a:prstGeom prst="rect">
            <a:avLst/>
          </a:prstGeom>
          <a:noFill/>
          <a:ln/>
        </p:spPr>
        <p:txBody>
          <a:bodyPr wrap="square" lIns="0" tIns="0" rIns="0" bIns="0" rtlCol="0" anchor="ctr"/>
          <a:lstStyle/>
          <a:p>
            <a:pPr marL="0" indent="0">
              <a:buNone/>
            </a:pPr>
            <a:r>
              <a:rPr lang="en-US" sz="1200" b="1" u="sng" dirty="0">
                <a:solidFill>
                  <a:srgbClr val="3458E8"/>
                </a:solidFill>
                <a:hlinkClick r:id="rId4">
                  <a:extLst>
                    <a:ext uri="{A12FA001-AC4F-418D-AE19-62706E023703}">
                      <ahyp:hlinkClr xmlns:ahyp="http://schemas.microsoft.com/office/drawing/2018/hyperlinkcolor" val="tx"/>
                    </a:ext>
                  </a:extLst>
                </a:hlinkClick>
              </a:rPr>
              <a:t>Open resource  →</a:t>
            </a:r>
            <a:endParaRPr lang="en-US" sz="1200" dirty="0"/>
          </a:p>
        </p:txBody>
      </p:sp>
      <p:sp>
        <p:nvSpPr>
          <p:cNvPr id="12" name="Shape 9"/>
          <p:cNvSpPr/>
          <p:nvPr/>
        </p:nvSpPr>
        <p:spPr>
          <a:xfrm>
            <a:off x="6144768" y="141732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3" name="Shape 10"/>
          <p:cNvSpPr/>
          <p:nvPr/>
        </p:nvSpPr>
        <p:spPr>
          <a:xfrm>
            <a:off x="6400800" y="1655064"/>
            <a:ext cx="603504" cy="603504"/>
          </a:xfrm>
          <a:prstGeom prst="ellipse">
            <a:avLst/>
          </a:prstGeom>
          <a:solidFill>
            <a:srgbClr val="6930C3"/>
          </a:solidFill>
          <a:ln w="12700">
            <a:solidFill>
              <a:srgbClr val="6930C3"/>
            </a:solidFill>
            <a:prstDash val="solid"/>
          </a:ln>
        </p:spPr>
        <p:txBody>
          <a:bodyPr/>
          <a:lstStyle/>
          <a:p>
            <a:endParaRPr lang="en-US"/>
          </a:p>
        </p:txBody>
      </p:sp>
      <p:sp>
        <p:nvSpPr>
          <p:cNvPr id="14" name="Text 11"/>
          <p:cNvSpPr/>
          <p:nvPr/>
        </p:nvSpPr>
        <p:spPr>
          <a:xfrm>
            <a:off x="6400800" y="186537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02</a:t>
            </a:r>
            <a:endParaRPr lang="en-US" sz="1300" dirty="0"/>
          </a:p>
        </p:txBody>
      </p:sp>
      <p:sp>
        <p:nvSpPr>
          <p:cNvPr id="15" name="Text 12"/>
          <p:cNvSpPr/>
          <p:nvPr/>
        </p:nvSpPr>
        <p:spPr>
          <a:xfrm>
            <a:off x="7196328" y="167335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QIDK GitHub Repository</a:t>
            </a:r>
            <a:endParaRPr lang="en-US" sz="1900" dirty="0"/>
          </a:p>
        </p:txBody>
      </p:sp>
      <p:sp>
        <p:nvSpPr>
          <p:cNvPr id="16" name="Text 13"/>
          <p:cNvSpPr/>
          <p:nvPr/>
        </p:nvSpPr>
        <p:spPr>
          <a:xfrm>
            <a:off x="7196328" y="213055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Source code, examples, and project resources</a:t>
            </a:r>
            <a:endParaRPr lang="en-US" sz="1300" dirty="0"/>
          </a:p>
        </p:txBody>
      </p:sp>
      <p:sp>
        <p:nvSpPr>
          <p:cNvPr id="17" name="Text 14">
            <a:hlinkClick r:id="rId5"/>
          </p:cNvPr>
          <p:cNvSpPr/>
          <p:nvPr/>
        </p:nvSpPr>
        <p:spPr>
          <a:xfrm>
            <a:off x="7196328" y="2651760"/>
            <a:ext cx="2011680" cy="228600"/>
          </a:xfrm>
          <a:prstGeom prst="rect">
            <a:avLst/>
          </a:prstGeom>
          <a:noFill/>
          <a:ln/>
        </p:spPr>
        <p:txBody>
          <a:bodyPr wrap="square" lIns="0" tIns="0" rIns="0" bIns="0" rtlCol="0" anchor="ctr"/>
          <a:lstStyle/>
          <a:p>
            <a:pPr marL="0" indent="0">
              <a:buNone/>
            </a:pPr>
            <a:r>
              <a:rPr lang="en-US" sz="1200" b="1" u="sng" dirty="0">
                <a:solidFill>
                  <a:srgbClr val="6930C3"/>
                </a:solidFill>
                <a:hlinkClick r:id="rId5">
                  <a:extLst>
                    <a:ext uri="{A12FA001-AC4F-418D-AE19-62706E023703}">
                      <ahyp:hlinkClr xmlns:ahyp="http://schemas.microsoft.com/office/drawing/2018/hyperlinkcolor" val="tx"/>
                    </a:ext>
                  </a:extLst>
                </a:hlinkClick>
              </a:rPr>
              <a:t>Open resource  →</a:t>
            </a:r>
            <a:endParaRPr lang="en-US" sz="1200" dirty="0"/>
          </a:p>
        </p:txBody>
      </p:sp>
      <p:sp>
        <p:nvSpPr>
          <p:cNvPr id="18" name="Shape 15"/>
          <p:cNvSpPr/>
          <p:nvPr/>
        </p:nvSpPr>
        <p:spPr>
          <a:xfrm>
            <a:off x="6583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19" name="Shape 16"/>
          <p:cNvSpPr/>
          <p:nvPr/>
        </p:nvSpPr>
        <p:spPr>
          <a:xfrm>
            <a:off x="946404" y="3794760"/>
            <a:ext cx="603504" cy="603504"/>
          </a:xfrm>
          <a:prstGeom prst="ellipse">
            <a:avLst/>
          </a:prstGeom>
          <a:solidFill>
            <a:srgbClr val="0E7490"/>
          </a:solidFill>
          <a:ln w="12700">
            <a:solidFill>
              <a:srgbClr val="0E7490"/>
            </a:solidFill>
            <a:prstDash val="solid"/>
          </a:ln>
        </p:spPr>
        <p:txBody>
          <a:bodyPr/>
          <a:lstStyle/>
          <a:p>
            <a:endParaRPr lang="en-US"/>
          </a:p>
        </p:txBody>
      </p:sp>
      <p:sp>
        <p:nvSpPr>
          <p:cNvPr id="20" name="Text 17"/>
          <p:cNvSpPr/>
          <p:nvPr/>
        </p:nvSpPr>
        <p:spPr>
          <a:xfrm>
            <a:off x="9144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03</a:t>
            </a:r>
            <a:endParaRPr lang="en-US" sz="1300" dirty="0"/>
          </a:p>
        </p:txBody>
      </p:sp>
      <p:sp>
        <p:nvSpPr>
          <p:cNvPr id="21" name="Text 18"/>
          <p:cNvSpPr/>
          <p:nvPr/>
        </p:nvSpPr>
        <p:spPr>
          <a:xfrm>
            <a:off x="17099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Qualcomm AI Hub</a:t>
            </a:r>
            <a:endParaRPr lang="en-US" sz="1900" dirty="0"/>
          </a:p>
        </p:txBody>
      </p:sp>
      <p:sp>
        <p:nvSpPr>
          <p:cNvPr id="22" name="Text 19"/>
          <p:cNvSpPr/>
          <p:nvPr/>
        </p:nvSpPr>
        <p:spPr>
          <a:xfrm>
            <a:off x="1709928" y="4279392"/>
            <a:ext cx="3657600" cy="384048"/>
          </a:xfrm>
          <a:prstGeom prst="rect">
            <a:avLst/>
          </a:prstGeom>
          <a:noFill/>
          <a:ln/>
        </p:spPr>
        <p:txBody>
          <a:bodyPr wrap="square" lIns="0" tIns="0" rIns="0" bIns="0" rtlCol="0" anchor="ctr">
            <a:normAutofit lnSpcReduction="10000"/>
          </a:bodyPr>
          <a:lstStyle/>
          <a:p>
            <a:pPr marL="0" indent="0">
              <a:buNone/>
            </a:pPr>
            <a:r>
              <a:rPr lang="en-US" sz="1300" dirty="0">
                <a:solidFill>
                  <a:srgbClr val="667085"/>
                </a:solidFill>
              </a:rPr>
              <a:t>Models compatible with Snapdragon mobile chipsets</a:t>
            </a:r>
            <a:endParaRPr lang="en-US" sz="1300" dirty="0"/>
          </a:p>
        </p:txBody>
      </p:sp>
      <p:sp>
        <p:nvSpPr>
          <p:cNvPr id="23" name="Text 20">
            <a:hlinkClick r:id="rId6"/>
          </p:cNvPr>
          <p:cNvSpPr/>
          <p:nvPr/>
        </p:nvSpPr>
        <p:spPr>
          <a:xfrm>
            <a:off x="1709928" y="4800600"/>
            <a:ext cx="2011680" cy="228600"/>
          </a:xfrm>
          <a:prstGeom prst="rect">
            <a:avLst/>
          </a:prstGeom>
          <a:noFill/>
          <a:ln/>
        </p:spPr>
        <p:txBody>
          <a:bodyPr wrap="square" lIns="0" tIns="0" rIns="0" bIns="0" rtlCol="0" anchor="ctr"/>
          <a:lstStyle/>
          <a:p>
            <a:pPr marL="0" indent="0">
              <a:buNone/>
            </a:pPr>
            <a:r>
              <a:rPr lang="en-US" sz="1200" b="1" u="sng" dirty="0">
                <a:solidFill>
                  <a:srgbClr val="0E7490"/>
                </a:solidFill>
                <a:hlinkClick r:id="rId6">
                  <a:extLst>
                    <a:ext uri="{A12FA001-AC4F-418D-AE19-62706E023703}">
                      <ahyp:hlinkClr xmlns:ahyp="http://schemas.microsoft.com/office/drawing/2018/hyperlinkcolor" val="tx"/>
                    </a:ext>
                  </a:extLst>
                </a:hlinkClick>
              </a:rPr>
              <a:t>Open resource  →</a:t>
            </a:r>
            <a:endParaRPr lang="en-US" sz="1200" dirty="0"/>
          </a:p>
        </p:txBody>
      </p:sp>
      <p:sp>
        <p:nvSpPr>
          <p:cNvPr id="24" name="Shape 21"/>
          <p:cNvSpPr/>
          <p:nvPr/>
        </p:nvSpPr>
        <p:spPr>
          <a:xfrm>
            <a:off x="6144768" y="3566160"/>
            <a:ext cx="5166360" cy="1737360"/>
          </a:xfrm>
          <a:prstGeom prst="roundRect">
            <a:avLst/>
          </a:prstGeom>
          <a:solidFill>
            <a:srgbClr val="FFFFFF"/>
          </a:solidFill>
          <a:ln w="12700">
            <a:solidFill>
              <a:srgbClr val="DCE2F1"/>
            </a:solidFill>
            <a:prstDash val="solid"/>
          </a:ln>
          <a:effectLst>
            <a:outerShdw blurRad="15240" dist="6350" dir="2700000" algn="bl" rotWithShape="0">
              <a:srgbClr val="000000">
                <a:alpha val="10000"/>
              </a:srgbClr>
            </a:outerShdw>
          </a:effectLst>
        </p:spPr>
        <p:txBody>
          <a:bodyPr/>
          <a:lstStyle/>
          <a:p>
            <a:endParaRPr lang="en-US"/>
          </a:p>
        </p:txBody>
      </p:sp>
      <p:sp>
        <p:nvSpPr>
          <p:cNvPr id="25" name="Shape 22"/>
          <p:cNvSpPr/>
          <p:nvPr/>
        </p:nvSpPr>
        <p:spPr>
          <a:xfrm>
            <a:off x="6400800" y="3803904"/>
            <a:ext cx="603504" cy="603504"/>
          </a:xfrm>
          <a:prstGeom prst="ellipse">
            <a:avLst/>
          </a:prstGeom>
          <a:solidFill>
            <a:srgbClr val="0F8A6A"/>
          </a:solidFill>
          <a:ln w="12700">
            <a:solidFill>
              <a:srgbClr val="0F8A6A"/>
            </a:solidFill>
            <a:prstDash val="solid"/>
          </a:ln>
        </p:spPr>
        <p:txBody>
          <a:bodyPr/>
          <a:lstStyle/>
          <a:p>
            <a:endParaRPr lang="en-US"/>
          </a:p>
        </p:txBody>
      </p:sp>
      <p:sp>
        <p:nvSpPr>
          <p:cNvPr id="26" name="Text 23"/>
          <p:cNvSpPr/>
          <p:nvPr/>
        </p:nvSpPr>
        <p:spPr>
          <a:xfrm>
            <a:off x="6400800" y="4014216"/>
            <a:ext cx="603504" cy="182880"/>
          </a:xfrm>
          <a:prstGeom prst="rect">
            <a:avLst/>
          </a:prstGeom>
          <a:noFill/>
          <a:ln/>
        </p:spPr>
        <p:txBody>
          <a:bodyPr wrap="square" lIns="0" tIns="0" rIns="0" bIns="0" rtlCol="0" anchor="ctr"/>
          <a:lstStyle/>
          <a:p>
            <a:pPr marL="0" indent="0" algn="ctr">
              <a:buNone/>
            </a:pPr>
            <a:r>
              <a:rPr lang="en-US" sz="1300" b="1" dirty="0">
                <a:solidFill>
                  <a:srgbClr val="FFFFFF"/>
                </a:solidFill>
              </a:rPr>
              <a:t>04</a:t>
            </a:r>
            <a:endParaRPr lang="en-US" sz="1300" dirty="0"/>
          </a:p>
        </p:txBody>
      </p:sp>
      <p:sp>
        <p:nvSpPr>
          <p:cNvPr id="27" name="Text 24"/>
          <p:cNvSpPr/>
          <p:nvPr/>
        </p:nvSpPr>
        <p:spPr>
          <a:xfrm>
            <a:off x="7196328" y="3822192"/>
            <a:ext cx="3657600" cy="310896"/>
          </a:xfrm>
          <a:prstGeom prst="rect">
            <a:avLst/>
          </a:prstGeom>
          <a:noFill/>
          <a:ln/>
        </p:spPr>
        <p:txBody>
          <a:bodyPr wrap="square" lIns="0" tIns="0" rIns="0" bIns="0" rtlCol="0" anchor="ctr"/>
          <a:lstStyle/>
          <a:p>
            <a:pPr marL="0" indent="0">
              <a:buNone/>
            </a:pPr>
            <a:r>
              <a:rPr lang="en-US" sz="1900" b="1" dirty="0">
                <a:solidFill>
                  <a:srgbClr val="17122B"/>
                </a:solidFill>
              </a:rPr>
              <a:t>QAIRT SDK Setup Guide</a:t>
            </a:r>
            <a:endParaRPr lang="en-US" sz="1900" dirty="0"/>
          </a:p>
        </p:txBody>
      </p:sp>
      <p:sp>
        <p:nvSpPr>
          <p:cNvPr id="28" name="Text 25"/>
          <p:cNvSpPr/>
          <p:nvPr/>
        </p:nvSpPr>
        <p:spPr>
          <a:xfrm>
            <a:off x="7196328" y="4279392"/>
            <a:ext cx="3657600" cy="384048"/>
          </a:xfrm>
          <a:prstGeom prst="rect">
            <a:avLst/>
          </a:prstGeom>
          <a:noFill/>
          <a:ln/>
        </p:spPr>
        <p:txBody>
          <a:bodyPr wrap="square" lIns="0" tIns="0" rIns="0" bIns="0" rtlCol="0" anchor="ctr">
            <a:normAutofit/>
          </a:bodyPr>
          <a:lstStyle/>
          <a:p>
            <a:pPr marL="0" indent="0">
              <a:buNone/>
            </a:pPr>
            <a:r>
              <a:rPr lang="en-US" sz="1300" dirty="0">
                <a:solidFill>
                  <a:srgbClr val="667085"/>
                </a:solidFill>
              </a:rPr>
              <a:t>Environment and SDK setup documentation</a:t>
            </a:r>
            <a:endParaRPr lang="en-US" sz="1300" dirty="0"/>
          </a:p>
        </p:txBody>
      </p:sp>
      <p:sp>
        <p:nvSpPr>
          <p:cNvPr id="29" name="Text 26">
            <a:hlinkClick r:id="rId7"/>
          </p:cNvPr>
          <p:cNvSpPr/>
          <p:nvPr/>
        </p:nvSpPr>
        <p:spPr>
          <a:xfrm>
            <a:off x="7196328" y="4800600"/>
            <a:ext cx="2011680" cy="228600"/>
          </a:xfrm>
          <a:prstGeom prst="rect">
            <a:avLst/>
          </a:prstGeom>
          <a:noFill/>
          <a:ln/>
        </p:spPr>
        <p:txBody>
          <a:bodyPr wrap="square" lIns="0" tIns="0" rIns="0" bIns="0" rtlCol="0" anchor="ctr"/>
          <a:lstStyle/>
          <a:p>
            <a:pPr marL="0" indent="0">
              <a:buNone/>
            </a:pPr>
            <a:r>
              <a:rPr lang="en-US" sz="1200" b="1" u="sng" dirty="0">
                <a:solidFill>
                  <a:srgbClr val="0F8A6A"/>
                </a:solidFill>
                <a:hlinkClick r:id="rId7">
                  <a:extLst>
                    <a:ext uri="{A12FA001-AC4F-418D-AE19-62706E023703}">
                      <ahyp:hlinkClr xmlns:ahyp="http://schemas.microsoft.com/office/drawing/2018/hyperlinkcolor" val="tx"/>
                    </a:ext>
                  </a:extLst>
                </a:hlinkClick>
              </a:rPr>
              <a:t>Open resource  →</a:t>
            </a:r>
            <a:endParaRPr lang="en-US" sz="1200" dirty="0"/>
          </a:p>
        </p:txBody>
      </p:sp>
      <p:sp>
        <p:nvSpPr>
          <p:cNvPr id="30" name="Text 27"/>
          <p:cNvSpPr/>
          <p:nvPr/>
        </p:nvSpPr>
        <p:spPr>
          <a:xfrm>
            <a:off x="640080" y="6510528"/>
            <a:ext cx="3840480" cy="164592"/>
          </a:xfrm>
          <a:prstGeom prst="rect">
            <a:avLst/>
          </a:prstGeom>
          <a:noFill/>
          <a:ln/>
        </p:spPr>
        <p:txBody>
          <a:bodyPr wrap="square" lIns="0" tIns="0" rIns="0" bIns="0" rtlCol="0" anchor="ctr"/>
          <a:lstStyle/>
          <a:p>
            <a:pPr marL="0" indent="0">
              <a:buNone/>
            </a:pPr>
            <a:r>
              <a:rPr lang="en-US" sz="850" dirty="0">
                <a:solidFill>
                  <a:srgbClr val="7A8294"/>
                </a:solidFill>
              </a:rPr>
              <a:t>MEGATHON X  •  QUALCOMM PROBLEM STATEMENT</a:t>
            </a:r>
            <a:endParaRPr lang="en-US" sz="850" dirty="0"/>
          </a:p>
        </p:txBody>
      </p:sp>
      <p:sp>
        <p:nvSpPr>
          <p:cNvPr id="31" name="Text 28"/>
          <p:cNvSpPr/>
          <p:nvPr/>
        </p:nvSpPr>
        <p:spPr>
          <a:xfrm>
            <a:off x="11018520" y="6492240"/>
            <a:ext cx="502920" cy="164592"/>
          </a:xfrm>
          <a:prstGeom prst="rect">
            <a:avLst/>
          </a:prstGeom>
          <a:noFill/>
          <a:ln/>
        </p:spPr>
        <p:txBody>
          <a:bodyPr wrap="square" lIns="0" tIns="0" rIns="0" bIns="0" rtlCol="0" anchor="ctr"/>
          <a:lstStyle/>
          <a:p>
            <a:pPr marL="0" indent="0" algn="r">
              <a:buNone/>
            </a:pPr>
            <a:r>
              <a:rPr lang="en-US" sz="900" dirty="0">
                <a:solidFill>
                  <a:srgbClr val="7A8294"/>
                </a:solidFill>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38"/>
        </a:solidFill>
        <a:effectLst/>
      </p:bgPr>
    </p:bg>
    <p:spTree>
      <p:nvGrpSpPr>
        <p:cNvPr id="1" name=""/>
        <p:cNvGrpSpPr/>
        <p:nvPr/>
      </p:nvGrpSpPr>
      <p:grpSpPr>
        <a:xfrm>
          <a:off x="0" y="0"/>
          <a:ext cx="1" cy="1"/>
          <a:chOff x="0" y="0"/>
          <a:chExt cx="1" cy="1"/>
        </a:xfrm>
      </p:grpSpPr>
      <p:sp>
        <p:nvSpPr>
          <p:cNvPr id="2" name="Text 0"/>
          <p:cNvSpPr/>
          <p:nvPr/>
        </p:nvSpPr>
        <p:spPr>
          <a:xfrm>
            <a:off x="685800" y="713232"/>
            <a:ext cx="2560320" cy="274320"/>
          </a:xfrm>
          <a:prstGeom prst="rect">
            <a:avLst/>
          </a:prstGeom>
          <a:noFill/>
          <a:ln/>
        </p:spPr>
        <p:txBody>
          <a:bodyPr wrap="square" lIns="0" tIns="0" rIns="0" bIns="0" rtlCol="0" anchor="ctr"/>
          <a:lstStyle/>
          <a:p>
            <a:pPr marL="0" indent="0">
              <a:buNone/>
            </a:pPr>
            <a:r>
              <a:rPr lang="en-US" sz="1300" b="1" kern="0" spc="180" dirty="0">
                <a:solidFill>
                  <a:srgbClr val="22D3EE"/>
                </a:solidFill>
              </a:rPr>
              <a:t>YOUR CHALLENGE</a:t>
            </a:r>
            <a:endParaRPr lang="en-US" sz="1300" dirty="0"/>
          </a:p>
        </p:txBody>
      </p:sp>
      <p:sp>
        <p:nvSpPr>
          <p:cNvPr id="3" name="Text 1"/>
          <p:cNvSpPr/>
          <p:nvPr/>
        </p:nvSpPr>
        <p:spPr>
          <a:xfrm>
            <a:off x="685800" y="1261872"/>
            <a:ext cx="6766560" cy="1463040"/>
          </a:xfrm>
          <a:prstGeom prst="rect">
            <a:avLst/>
          </a:prstGeom>
          <a:noFill/>
          <a:ln/>
        </p:spPr>
        <p:txBody>
          <a:bodyPr wrap="square" lIns="0" tIns="0" rIns="0" bIns="0" rtlCol="0" anchor="ctr">
            <a:normAutofit/>
          </a:bodyPr>
          <a:lstStyle/>
          <a:p>
            <a:pPr marL="0" indent="0">
              <a:buNone/>
            </a:pPr>
            <a:r>
              <a:rPr lang="en-US" sz="4000" b="1" dirty="0">
                <a:solidFill>
                  <a:srgbClr val="FFFFFF"/>
                </a:solidFill>
              </a:rPr>
              <a:t>Make incident reporting</a:t>
            </a:r>
            <a:endParaRPr lang="en-US" sz="4000" dirty="0"/>
          </a:p>
          <a:p>
            <a:pPr marL="0" indent="0">
              <a:buNone/>
            </a:pPr>
            <a:r>
              <a:rPr lang="en-US" sz="4000" b="1" dirty="0">
                <a:solidFill>
                  <a:srgbClr val="FFFFFF"/>
                </a:solidFill>
              </a:rPr>
              <a:t>as easy as speaking.</a:t>
            </a:r>
            <a:endParaRPr lang="en-US" sz="4000" dirty="0"/>
          </a:p>
        </p:txBody>
      </p:sp>
      <p:sp>
        <p:nvSpPr>
          <p:cNvPr id="4" name="Text 2"/>
          <p:cNvSpPr/>
          <p:nvPr/>
        </p:nvSpPr>
        <p:spPr>
          <a:xfrm>
            <a:off x="713232" y="2999232"/>
            <a:ext cx="7132320" cy="384048"/>
          </a:xfrm>
          <a:prstGeom prst="rect">
            <a:avLst/>
          </a:prstGeom>
          <a:noFill/>
          <a:ln/>
        </p:spPr>
        <p:txBody>
          <a:bodyPr wrap="square" lIns="0" tIns="0" rIns="0" bIns="0" rtlCol="0" anchor="ctr"/>
          <a:lstStyle/>
          <a:p>
            <a:pPr marL="0" indent="0">
              <a:buNone/>
            </a:pPr>
            <a:r>
              <a:rPr lang="en-US" sz="1800" dirty="0">
                <a:solidFill>
                  <a:srgbClr val="D8DDF1"/>
                </a:solidFill>
              </a:rPr>
              <a:t>Natural conversation  •  Accurate extraction  •  On-device execution</a:t>
            </a:r>
            <a:endParaRPr lang="en-US" sz="1800" dirty="0"/>
          </a:p>
        </p:txBody>
      </p:sp>
      <p:sp>
        <p:nvSpPr>
          <p:cNvPr id="5" name="Shape 3"/>
          <p:cNvSpPr/>
          <p:nvPr/>
        </p:nvSpPr>
        <p:spPr>
          <a:xfrm>
            <a:off x="685800" y="3886200"/>
            <a:ext cx="7086600" cy="1078992"/>
          </a:xfrm>
          <a:prstGeom prst="roundRect">
            <a:avLst/>
          </a:prstGeom>
          <a:solidFill>
            <a:srgbClr val="142657"/>
          </a:solidFill>
          <a:ln w="12700">
            <a:solidFill>
              <a:srgbClr val="3656A5"/>
            </a:solidFill>
            <a:prstDash val="solid"/>
          </a:ln>
        </p:spPr>
        <p:txBody>
          <a:bodyPr/>
          <a:lstStyle/>
          <a:p>
            <a:endParaRPr lang="en-US"/>
          </a:p>
        </p:txBody>
      </p:sp>
      <p:sp>
        <p:nvSpPr>
          <p:cNvPr id="6" name="Text 4"/>
          <p:cNvSpPr/>
          <p:nvPr/>
        </p:nvSpPr>
        <p:spPr>
          <a:xfrm>
            <a:off x="960120" y="4224528"/>
            <a:ext cx="6537960" cy="320040"/>
          </a:xfrm>
          <a:prstGeom prst="rect">
            <a:avLst/>
          </a:prstGeom>
          <a:noFill/>
          <a:ln/>
        </p:spPr>
        <p:txBody>
          <a:bodyPr wrap="square" lIns="0" tIns="0" rIns="0" bIns="0" rtlCol="0" anchor="ctr">
            <a:normAutofit/>
          </a:bodyPr>
          <a:lstStyle/>
          <a:p>
            <a:pPr marL="0" indent="0" algn="ctr">
              <a:buNone/>
            </a:pPr>
            <a:r>
              <a:rPr lang="en-US" sz="1700" b="1" dirty="0">
                <a:solidFill>
                  <a:srgbClr val="FFFFFF"/>
                </a:solidFill>
              </a:rPr>
              <a:t>SPEAK   →   UNDERSTAND   →   EXTRACT   →   REVIEW   →   SUBMIT</a:t>
            </a:r>
            <a:endParaRPr lang="en-US" sz="1700" dirty="0"/>
          </a:p>
        </p:txBody>
      </p:sp>
      <p:sp>
        <p:nvSpPr>
          <p:cNvPr id="7" name="Shape 5"/>
          <p:cNvSpPr/>
          <p:nvPr/>
        </p:nvSpPr>
        <p:spPr>
          <a:xfrm>
            <a:off x="8229600" y="914400"/>
            <a:ext cx="3200400" cy="4434840"/>
          </a:xfrm>
          <a:prstGeom prst="roundRect">
            <a:avLst/>
          </a:prstGeom>
          <a:solidFill>
            <a:srgbClr val="FFFFFF"/>
          </a:solidFill>
          <a:ln w="12700">
            <a:solidFill>
              <a:srgbClr val="D9E0FF"/>
            </a:solidFill>
            <a:prstDash val="solid"/>
          </a:ln>
          <a:effectLst>
            <a:outerShdw blurRad="25400" dist="12700" dir="2700000" algn="bl" rotWithShape="0">
              <a:srgbClr val="000000">
                <a:alpha val="24000"/>
              </a:srgbClr>
            </a:outerShdw>
          </a:effectLst>
        </p:spPr>
        <p:txBody>
          <a:bodyPr/>
          <a:lstStyle/>
          <a:p>
            <a:endParaRPr lang="en-US"/>
          </a:p>
        </p:txBody>
      </p:sp>
      <p:pic>
        <p:nvPicPr>
          <p:cNvPr id="8" name="Image 0" descr="/mnt/data/better_work/unzip/ppt/media/image18.png"/>
          <p:cNvPicPr>
            <a:picLocks noChangeAspect="1"/>
          </p:cNvPicPr>
          <p:nvPr/>
        </p:nvPicPr>
        <p:blipFill>
          <a:blip r:embed="rId3"/>
          <a:stretch>
            <a:fillRect/>
          </a:stretch>
        </p:blipFill>
        <p:spPr>
          <a:xfrm>
            <a:off x="8709960" y="1353312"/>
            <a:ext cx="2230536" cy="850392"/>
          </a:xfrm>
          <a:prstGeom prst="rect">
            <a:avLst/>
          </a:prstGeom>
        </p:spPr>
      </p:pic>
      <p:sp>
        <p:nvSpPr>
          <p:cNvPr id="9" name="Text 6"/>
          <p:cNvSpPr/>
          <p:nvPr/>
        </p:nvSpPr>
        <p:spPr>
          <a:xfrm>
            <a:off x="8572500" y="2423160"/>
            <a:ext cx="2505456" cy="685800"/>
          </a:xfrm>
          <a:prstGeom prst="rect">
            <a:avLst/>
          </a:prstGeom>
          <a:noFill/>
          <a:ln/>
        </p:spPr>
        <p:txBody>
          <a:bodyPr wrap="square" lIns="0" tIns="0" rIns="0" bIns="0" rtlCol="0" anchor="ctr"/>
          <a:lstStyle/>
          <a:p>
            <a:pPr marL="0" indent="0" algn="ctr">
              <a:buNone/>
            </a:pPr>
            <a:r>
              <a:rPr lang="en-US" sz="3100" b="1" dirty="0">
                <a:solidFill>
                  <a:srgbClr val="17122B"/>
                </a:solidFill>
              </a:rPr>
              <a:t>Thank you</a:t>
            </a:r>
            <a:endParaRPr lang="en-US" sz="3100" dirty="0"/>
          </a:p>
        </p:txBody>
      </p:sp>
      <p:sp>
        <p:nvSpPr>
          <p:cNvPr id="10" name="Text 7"/>
          <p:cNvSpPr/>
          <p:nvPr/>
        </p:nvSpPr>
        <p:spPr>
          <a:xfrm>
            <a:off x="8732520" y="3383280"/>
            <a:ext cx="2194560" cy="685800"/>
          </a:xfrm>
          <a:prstGeom prst="rect">
            <a:avLst/>
          </a:prstGeom>
          <a:noFill/>
          <a:ln/>
        </p:spPr>
        <p:txBody>
          <a:bodyPr wrap="square" lIns="0" tIns="0" rIns="0" bIns="0" rtlCol="0" anchor="ctr"/>
          <a:lstStyle/>
          <a:p>
            <a:pPr marL="0" indent="0" algn="ctr">
              <a:buNone/>
            </a:pPr>
            <a:r>
              <a:rPr lang="en-US" sz="1800" b="1" dirty="0">
                <a:solidFill>
                  <a:srgbClr val="3458E8"/>
                </a:solidFill>
              </a:rPr>
              <a:t>We look forward to</a:t>
            </a:r>
            <a:endParaRPr lang="en-US" sz="1800" dirty="0"/>
          </a:p>
          <a:p>
            <a:pPr marL="0" indent="0" algn="ctr">
              <a:buNone/>
            </a:pPr>
            <a:r>
              <a:rPr lang="en-US" sz="1800" b="1" dirty="0">
                <a:solidFill>
                  <a:srgbClr val="3458E8"/>
                </a:solidFill>
              </a:rPr>
              <a:t>your ideas.</a:t>
            </a:r>
            <a:endParaRPr lang="en-US" sz="1800" dirty="0"/>
          </a:p>
        </p:txBody>
      </p:sp>
      <p:sp>
        <p:nvSpPr>
          <p:cNvPr id="11" name="Text 8"/>
          <p:cNvSpPr/>
          <p:nvPr/>
        </p:nvSpPr>
        <p:spPr>
          <a:xfrm>
            <a:off x="8823960" y="4663440"/>
            <a:ext cx="2011680" cy="237744"/>
          </a:xfrm>
          <a:prstGeom prst="rect">
            <a:avLst/>
          </a:prstGeom>
          <a:noFill/>
          <a:ln/>
        </p:spPr>
        <p:txBody>
          <a:bodyPr wrap="square" lIns="0" tIns="0" rIns="0" bIns="0" rtlCol="0" anchor="ctr"/>
          <a:lstStyle/>
          <a:p>
            <a:pPr marL="0" indent="0" algn="ctr">
              <a:buNone/>
            </a:pPr>
            <a:r>
              <a:rPr lang="en-US" sz="1200" b="1" kern="0" spc="130" dirty="0">
                <a:solidFill>
                  <a:srgbClr val="6930C3"/>
                </a:solidFill>
              </a:rPr>
              <a:t>MEGATHON X</a:t>
            </a:r>
            <a:endParaRPr lang="en-US" sz="1200" dirty="0"/>
          </a:p>
        </p:txBody>
      </p:sp>
      <p:sp>
        <p:nvSpPr>
          <p:cNvPr id="12" name="Text 9"/>
          <p:cNvSpPr/>
          <p:nvPr/>
        </p:nvSpPr>
        <p:spPr>
          <a:xfrm>
            <a:off x="685800" y="6309360"/>
            <a:ext cx="3474720" cy="201168"/>
          </a:xfrm>
          <a:prstGeom prst="rect">
            <a:avLst/>
          </a:prstGeom>
          <a:noFill/>
          <a:ln/>
        </p:spPr>
        <p:txBody>
          <a:bodyPr wrap="square" lIns="0" tIns="0" rIns="0" bIns="0" rtlCol="0" anchor="ctr"/>
          <a:lstStyle/>
          <a:p>
            <a:pPr marL="0" indent="0">
              <a:buNone/>
            </a:pPr>
            <a:r>
              <a:rPr lang="en-US" sz="1000" dirty="0">
                <a:solidFill>
                  <a:srgbClr val="AAB6D8"/>
                </a:solidFill>
              </a:rPr>
              <a:t>Qualcomm  ×  IIIT Hyderabad</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08f6f869-1ed0-46b3-a227-1d3e52347e28}" enabled="1" method="Privileged" siteId="{98e9ba89-e1a1-4e38-9007-8bdabc25de1d}" contentBits="0" removed="0"/>
</clbl:labelList>
</file>

<file path=docProps/app.xml><?xml version="1.0" encoding="utf-8"?>
<Properties xmlns="http://schemas.openxmlformats.org/officeDocument/2006/extended-properties" xmlns:vt="http://schemas.openxmlformats.org/officeDocument/2006/docPropsVTypes">
  <TotalTime>8</TotalTime>
  <Words>504</Words>
  <Application>Microsoft Office PowerPoint</Application>
  <PresentationFormat>Widescreen</PresentationFormat>
  <Paragraphs>64</Paragraphs>
  <Slides>5</Slides>
  <Notes>5</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Megathon X - Qualcomm Problem Statement</dc:title>
  <dc:subject>AI Incident Report Assistant</dc:subject>
  <dc:creator>Venu Raidu</dc:creator>
  <cp:lastModifiedBy>Yash More</cp:lastModifiedBy>
  <cp:revision>13</cp:revision>
  <dcterms:created xsi:type="dcterms:W3CDTF">2026-10-10T01:58:50Z</dcterms:created>
  <dcterms:modified xsi:type="dcterms:W3CDTF">2026-10-10T10:04:40Z</dcterms:modified>
</cp:coreProperties>
</file>